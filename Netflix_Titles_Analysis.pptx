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4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5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6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7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8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FFFFFF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FFFFFF"/>
                </a:solidFill>
                <a:latin typeface="Calibri"/>
              </a:rPr>
              <a:t>Top 10 Content-Producing Countries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Titles</c:v>
                </c:pt>
              </c:strCache>
            </c:strRef>
          </c:tx>
          <c:spPr>
            <a:solidFill>
              <a:srgbClr val="3ED9A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Mexico</c:v>
                  </c:pt>
                  <c:pt idx="1">
                    <c:v>Germany</c:v>
                  </c:pt>
                  <c:pt idx="2">
                    <c:v>South Korea</c:v>
                  </c:pt>
                  <c:pt idx="3">
                    <c:v>Spain</c:v>
                  </c:pt>
                  <c:pt idx="4">
                    <c:v>France</c:v>
                  </c:pt>
                  <c:pt idx="5">
                    <c:v>Canada</c:v>
                  </c:pt>
                  <c:pt idx="6">
                    <c:v>Japan</c:v>
                  </c:pt>
                  <c:pt idx="7">
                    <c:v>United Kingdom</c:v>
                  </c:pt>
                  <c:pt idx="8">
                    <c:v>India</c:v>
                  </c:pt>
                  <c:pt idx="9">
                    <c:v>United States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111</c:v>
                </c:pt>
                <c:pt idx="1">
                  <c:v>124</c:v>
                </c:pt>
                <c:pt idx="2">
                  <c:v>158</c:v>
                </c:pt>
                <c:pt idx="3">
                  <c:v>166</c:v>
                </c:pt>
                <c:pt idx="4">
                  <c:v>225</c:v>
                </c:pt>
                <c:pt idx="5">
                  <c:v>230</c:v>
                </c:pt>
                <c:pt idx="6">
                  <c:v>244</c:v>
                </c:pt>
                <c:pt idx="7">
                  <c:v>383</c:v>
                </c:pt>
                <c:pt idx="8">
                  <c:v>638</c:v>
                </c:pt>
                <c:pt idx="9">
                  <c:v>1999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444444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C9C9C9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2B2B2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444444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C9C9C9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FFFFFF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FFFFFF"/>
                </a:solidFill>
                <a:latin typeface="Calibri"/>
              </a:rPr>
              <a:t>Content Ratings Distribution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Titles</c:v>
                </c:pt>
              </c:strCache>
            </c:strRef>
          </c:tx>
          <c:spPr>
            <a:solidFill>
              <a:srgbClr val="E1D12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TV-MA</c:v>
                  </c:pt>
                  <c:pt idx="1">
                    <c:v>TV-14</c:v>
                  </c:pt>
                  <c:pt idx="2">
                    <c:v>TV-PG</c:v>
                  </c:pt>
                  <c:pt idx="3">
                    <c:v>R</c:v>
                  </c:pt>
                  <c:pt idx="4">
                    <c:v>TV-Y</c:v>
                  </c:pt>
                  <c:pt idx="5">
                    <c:v>PG-13</c:v>
                  </c:pt>
                  <c:pt idx="6">
                    <c:v>TV-Y7</c:v>
                  </c:pt>
                  <c:pt idx="7">
                    <c:v>TV-G</c:v>
                  </c:pt>
                  <c:pt idx="8">
                    <c:v>PG</c:v>
                  </c:pt>
                  <c:pt idx="9">
                    <c:v>G</c:v>
                  </c:pt>
                  <c:pt idx="10">
                    <c:v>NC-17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2246</c:v>
                </c:pt>
                <c:pt idx="1">
                  <c:v>1373</c:v>
                </c:pt>
                <c:pt idx="2">
                  <c:v>465</c:v>
                </c:pt>
                <c:pt idx="3">
                  <c:v>367</c:v>
                </c:pt>
                <c:pt idx="4">
                  <c:v>230</c:v>
                </c:pt>
                <c:pt idx="5">
                  <c:v>226</c:v>
                </c:pt>
                <c:pt idx="6">
                  <c:v>209</c:v>
                </c:pt>
                <c:pt idx="7">
                  <c:v>144</c:v>
                </c:pt>
                <c:pt idx="8">
                  <c:v>123</c:v>
                </c:pt>
                <c:pt idx="9">
                  <c:v>13</c:v>
                </c:pt>
                <c:pt idx="10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444444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C9C9C9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2B2B2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444444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C9C9C9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FFFFFF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FFFFFF"/>
                </a:solidFill>
                <a:latin typeface="Calibri"/>
              </a:rPr>
              <a:t>Titles by Release Year: Movies vs TV Shows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Movies</c:v>
                </c:pt>
              </c:strCache>
            </c:strRef>
          </c:tx>
          <c:spPr>
            <a:solidFill>
              <a:srgbClr val="3ED9A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2017</c:v>
                  </c:pt>
                  <c:pt idx="1">
                    <c:v>2018</c:v>
                  </c:pt>
                  <c:pt idx="2">
                    <c:v>2019</c:v>
                  </c:pt>
                  <c:pt idx="3">
                    <c:v>2020</c:v>
                  </c:pt>
                  <c:pt idx="4">
                    <c:v>2021*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352</c:v>
                </c:pt>
                <c:pt idx="1">
                  <c:v>558</c:v>
                </c:pt>
                <c:pt idx="2">
                  <c:v>562</c:v>
                </c:pt>
                <c:pt idx="3">
                  <c:v>514</c:v>
                </c:pt>
                <c:pt idx="4">
                  <c:v>277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TV Shows</c:v>
                </c:pt>
              </c:strCache>
            </c:strRef>
          </c:tx>
          <c:spPr>
            <a:solidFill>
              <a:srgbClr val="E1D12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2017</c:v>
                  </c:pt>
                  <c:pt idx="1">
                    <c:v>2018</c:v>
                  </c:pt>
                  <c:pt idx="2">
                    <c:v>2019</c:v>
                  </c:pt>
                  <c:pt idx="3">
                    <c:v>2020</c:v>
                  </c:pt>
                  <c:pt idx="4">
                    <c:v>2021*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159</c:v>
                </c:pt>
                <c:pt idx="1">
                  <c:v>319</c:v>
                </c:pt>
                <c:pt idx="2">
                  <c:v>388</c:v>
                </c:pt>
                <c:pt idx="3">
                  <c:v>434</c:v>
                </c:pt>
                <c:pt idx="4">
                  <c:v>314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444444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C9C9C9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2B2B2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444444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C9C9C9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FFFFFF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FFFFFF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FFFFFF"/>
                </a:solidFill>
                <a:latin typeface="Calibri"/>
              </a:rPr>
              <a:t>Monthly Netflix Content Additions (2017–2021)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Titles Added</c:v>
                </c:pt>
              </c:strCache>
            </c:strRef>
          </c:tx>
          <c:spPr>
            <a:solidFill>
              <a:srgbClr val="3ED9A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338</c:v>
                </c:pt>
                <c:pt idx="1">
                  <c:v>325</c:v>
                </c:pt>
                <c:pt idx="2">
                  <c:v>402</c:v>
                </c:pt>
                <c:pt idx="3">
                  <c:v>479</c:v>
                </c:pt>
                <c:pt idx="4">
                  <c:v>420</c:v>
                </c:pt>
                <c:pt idx="5">
                  <c:v>473</c:v>
                </c:pt>
                <c:pt idx="6">
                  <c:v>548</c:v>
                </c:pt>
                <c:pt idx="7">
                  <c:v>490</c:v>
                </c:pt>
                <c:pt idx="8">
                  <c:v>528</c:v>
                </c:pt>
                <c:pt idx="9">
                  <c:v>482</c:v>
                </c:pt>
                <c:pt idx="10">
                  <c:v>455</c:v>
                </c:pt>
                <c:pt idx="11">
                  <c:v>457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444444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C9C9C9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280"/>
        </c:scaling>
        <c:delete val="0"/>
        <c:axPos val="l"/>
        <c:majorGridlines>
          <c:spPr>
            <a:ln w="9525" cap="flat">
              <a:solidFill>
                <a:srgbClr val="2B2B2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444444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C9C9C9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FFFFFF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FFFFFF"/>
                </a:solidFill>
                <a:latin typeface="Calibri"/>
              </a:rPr>
              <a:t>Top 10 Genres on Netflix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Titles</c:v>
                </c:pt>
              </c:strCache>
            </c:strRef>
          </c:tx>
          <c:spPr>
            <a:solidFill>
              <a:srgbClr val="3ED9A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Children &amp; Family Movies</c:v>
                  </c:pt>
                  <c:pt idx="1">
                    <c:v>Documentaries</c:v>
                  </c:pt>
                  <c:pt idx="2">
                    <c:v>Romantic Movies</c:v>
                  </c:pt>
                  <c:pt idx="3">
                    <c:v>TV Comedies</c:v>
                  </c:pt>
                  <c:pt idx="4">
                    <c:v>Action &amp; Adventure</c:v>
                  </c:pt>
                  <c:pt idx="5">
                    <c:v>TV Dramas</c:v>
                  </c:pt>
                  <c:pt idx="6">
                    <c:v>International TV Shows</c:v>
                  </c:pt>
                  <c:pt idx="7">
                    <c:v>Comedies</c:v>
                  </c:pt>
                  <c:pt idx="8">
                    <c:v>Dramas</c:v>
                  </c:pt>
                  <c:pt idx="9">
                    <c:v>International Movies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377</c:v>
                </c:pt>
                <c:pt idx="1">
                  <c:v>389</c:v>
                </c:pt>
                <c:pt idx="2">
                  <c:v>398</c:v>
                </c:pt>
                <c:pt idx="3">
                  <c:v>436</c:v>
                </c:pt>
                <c:pt idx="4">
                  <c:v>464</c:v>
                </c:pt>
                <c:pt idx="5">
                  <c:v>576</c:v>
                </c:pt>
                <c:pt idx="6">
                  <c:v>1000</c:v>
                </c:pt>
                <c:pt idx="7">
                  <c:v>1025</c:v>
                </c:pt>
                <c:pt idx="8">
                  <c:v>1426</c:v>
                </c:pt>
                <c:pt idx="9">
                  <c:v>1755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444444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C9C9C9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2B2B2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444444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C9C9C9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50" b="0" i="0" u="none" strike="noStrike">
                <a:solidFill>
                  <a:srgbClr val="FFFFFF"/>
                </a:solidFill>
                <a:latin typeface="Calibri"/>
              </a:defRPr>
            </a:pPr>
            <a:r>
              <a:rPr sz="1250" b="0" i="0" u="none" strike="noStrike">
                <a:solidFill>
                  <a:srgbClr val="FFFFFF"/>
                </a:solidFill>
                <a:latin typeface="Calibri"/>
              </a:rPr>
              <a:t>Most Frequent Directors on Netflix (named directors only)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Titles</c:v>
                </c:pt>
              </c:strCache>
            </c:strRef>
          </c:tx>
          <c:spPr>
            <a:solidFill>
              <a:srgbClr val="E1D12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Rajiv Chilaka</c:v>
                  </c:pt>
                  <c:pt idx="1">
                    <c:v>Jan Suter</c:v>
                  </c:pt>
                  <c:pt idx="2">
                    <c:v>Suhas Kadav</c:v>
                  </c:pt>
                  <c:pt idx="3">
                    <c:v>Raúl Campos</c:v>
                  </c:pt>
                  <c:pt idx="4">
                    <c:v>Marcus Raboy</c:v>
                  </c:pt>
                  <c:pt idx="5">
                    <c:v>Cathy Garcia-Molina</c:v>
                  </c:pt>
                  <c:pt idx="6">
                    <c:v>Youssef Chahine</c:v>
                  </c:pt>
                  <c:pt idx="7">
                    <c:v>Jay Chapman</c:v>
                  </c:pt>
                  <c:pt idx="8">
                    <c:v>Fernando Ayllón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19</c:v>
                </c:pt>
                <c:pt idx="1">
                  <c:v>15</c:v>
                </c:pt>
                <c:pt idx="2">
                  <c:v>15</c:v>
                </c:pt>
                <c:pt idx="3">
                  <c:v>14</c:v>
                </c:pt>
                <c:pt idx="4">
                  <c:v>13</c:v>
                </c:pt>
                <c:pt idx="5">
                  <c:v>12</c:v>
                </c:pt>
                <c:pt idx="6">
                  <c:v>12</c:v>
                </c:pt>
                <c:pt idx="7">
                  <c:v>9</c:v>
                </c:pt>
                <c:pt idx="8">
                  <c:v>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444444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C9C9C9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2B2B2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444444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C9C9C9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FFFFFF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FFFFFF"/>
                </a:solidFill>
                <a:latin typeface="Calibri"/>
              </a:rPr>
              <a:t>Movies vs TV Shows (% of Catalog)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3ED9A0"/>
              </a:solidFill>
              <a:effectLst/>
            </c:spPr>
          </c:dPt>
          <c:dPt>
            <c:idx val="1"/>
            <c:bubble3D val="0"/>
            <c:spPr>
              <a:solidFill>
                <a:srgbClr val="E1D126"/>
              </a:solidFill>
              <a:effectLst/>
            </c:spPr>
          </c:dPt>
          <c:dLbls>
            <c:dLbl>
              <c:idx val="0"/>
              <c:numFmt formatCode="0.0&quot;%&quot;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0.0&quot;%&quot;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.0&quot;%&quot;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Movies</c:v>
                </c:pt>
                <c:pt idx="1">
                  <c:v>TV Shows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64.2</c:v>
                </c:pt>
                <c:pt idx="1">
                  <c:v>35.8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FFFFFF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FFFFFF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FFFFFF"/>
                </a:solidFill>
                <a:latin typeface="Calibri"/>
              </a:rPr>
              <a:t>Unique Contributing Countries per Year Added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Unique Countries</c:v>
                </c:pt>
              </c:strCache>
            </c:strRef>
          </c:tx>
          <c:spPr>
            <a:solidFill>
              <a:srgbClr val="3ED9A0"/>
            </a:solidFill>
            <a:ln w="38100" cap="flat">
              <a:solidFill>
                <a:srgbClr val="3ED9A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3ED9A0"/>
              </a:solidFill>
              <a:ln w="9525" cap="flat">
                <a:solidFill>
                  <a:srgbClr val="3ED9A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2017</c:v>
                  </c:pt>
                  <c:pt idx="1">
                    <c:v>2018</c:v>
                  </c:pt>
                  <c:pt idx="2">
                    <c:v>2019</c:v>
                  </c:pt>
                  <c:pt idx="3">
                    <c:v>2020</c:v>
                  </c:pt>
                  <c:pt idx="4">
                    <c:v>2021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43</c:v>
                </c:pt>
                <c:pt idx="1">
                  <c:v>64</c:v>
                </c:pt>
                <c:pt idx="2">
                  <c:v>64</c:v>
                </c:pt>
                <c:pt idx="3">
                  <c:v>70</c:v>
                </c:pt>
                <c:pt idx="4">
                  <c:v>73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Calibri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444444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C9C9C9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2B2B2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444444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C9C9C9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6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image-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3.xml"/><Relationship Id="rId1" Type="http://schemas.openxmlformats.org/officeDocument/2006/relationships/image" Target="../media/image-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4.xml"/><Relationship Id="rId1" Type="http://schemas.openxmlformats.org/officeDocument/2006/relationships/image" Target="../media/image-10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5.xml"/><Relationship Id="rId1" Type="http://schemas.openxmlformats.org/officeDocument/2006/relationships/image" Target="../media/image-1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6.xml"/><Relationship Id="rId1" Type="http://schemas.openxmlformats.org/officeDocument/2006/relationships/image" Target="../media/image-1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7.xml"/><Relationship Id="rId1" Type="http://schemas.openxmlformats.org/officeDocument/2006/relationships/image" Target="../media/image-1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8.xml"/><Relationship Id="rId1" Type="http://schemas.openxmlformats.org/officeDocument/2006/relationships/image" Target="../media/image-16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wave_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440656"/>
          </a:xfrm>
          <a:prstGeom prst="rect">
            <a:avLst/>
          </a:prstGeom>
        </p:spPr>
      </p:pic>
      <p:pic>
        <p:nvPicPr>
          <p:cNvPr id="3" name="Image 1" descr="/home/claude/work/assets/wave_fu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375219"/>
            <a:ext cx="12191695" cy="2482781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31520" y="233172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 TITLES ANALYSIS</a:t>
            </a:r>
            <a:endParaRPr lang="en-US" sz="4000" dirty="0"/>
          </a:p>
        </p:txBody>
      </p:sp>
      <p:sp>
        <p:nvSpPr>
          <p:cNvPr id="5" name="Text 1"/>
          <p:cNvSpPr txBox="1"/>
          <p:nvPr/>
        </p:nvSpPr>
        <p:spPr>
          <a:xfrm>
            <a:off x="731520" y="324612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1D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of Content Distribution, Trends, Genres &amp; Audience Patterns</a:t>
            </a:r>
            <a:endParaRPr lang="en-US" sz="1600" dirty="0"/>
          </a:p>
        </p:txBody>
      </p:sp>
      <p:sp>
        <p:nvSpPr>
          <p:cNvPr id="6" name="Text 2"/>
          <p:cNvSpPr txBox="1"/>
          <p:nvPr/>
        </p:nvSpPr>
        <p:spPr>
          <a:xfrm>
            <a:off x="731520" y="37947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Pandas  ·  NumPy  ·  Matplotlib  ·  Seaborn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wave_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44065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26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4173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1D1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7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80136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Netflix's global catalog of 5,397 titles to understand what the platform contains and how it has evolved.</a:t>
            </a:r>
            <a:endParaRPr lang="en-US" sz="135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58775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1D1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 &amp; Visualization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97180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covering content distribution, growth trends, genre/talent patterns and audience-rating mix — each backed by charts.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758184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1D1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&amp; Cleaning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414223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significant missingness in director, cast and country fields, and validate release-year outliers before drawing conclusions.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492861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1D1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&amp; Conclusion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5312664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findings into concrete content-strategy and acquisition guidance.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wave_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44065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6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4173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1D1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7830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Netflix's catalog spans thousands of titles from hundreds of countries. Understanding the mix — movies vs. shows, where content comes from, how the library has grown, and who it's rated for — helps shape acquisition, production and marketing decisions.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743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1D1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Techniques Used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3200400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▪"/>
            </a:pPr>
            <a:r>
              <a:rPr lang="en-US" sz="1350" b="1" dirty="0">
                <a:solidFill>
                  <a:srgbClr val="E1D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Handling &amp; Cleaning  —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Pandas, NumPy — type conversion, null-value treatment, IQR outlier detection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3703320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▪"/>
            </a:pPr>
            <a:r>
              <a:rPr lang="en-US" sz="1350" b="1" dirty="0">
                <a:solidFill>
                  <a:srgbClr val="E1D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  —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Matplotlib, Seaborn — distribution, trend, comparison and share-of-total charts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4206240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▪"/>
            </a:pPr>
            <a:r>
              <a:rPr lang="en-US" sz="1350" b="1" dirty="0">
                <a:solidFill>
                  <a:srgbClr val="E1D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Text/Category Parsing  —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Splitting and exploding multi-value fields (country, cast, listed_in) for accurate counts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4709160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▪"/>
            </a:pPr>
            <a:r>
              <a:rPr lang="en-US" sz="1350" b="1" dirty="0">
                <a:solidFill>
                  <a:srgbClr val="E1D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 —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Notebook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wave_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44065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Description</a:t>
            </a:r>
            <a:endParaRPr lang="en-US" sz="26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1D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5,397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titles   ·   </a:t>
            </a:r>
            <a:pPr indent="0" marL="0">
              <a:buNone/>
            </a:pPr>
            <a:r>
              <a:rPr lang="en-US" sz="1350" b="1" dirty="0">
                <a:solidFill>
                  <a:srgbClr val="E1D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features   ·   </a:t>
            </a:r>
            <a:pPr indent="0" marL="0">
              <a:buNone/>
            </a:pPr>
            <a:r>
              <a:rPr lang="en-US" sz="1350" b="1" dirty="0">
                <a:solidFill>
                  <a:srgbClr val="E1D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Released 1925–2021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buNone/>
            </a:pPr>
            <a:r>
              <a:rPr lang="en-US" sz="1350" b="1" dirty="0">
                <a:solidFill>
                  <a:srgbClr val="E1D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to Netflix 2017–2021</a:t>
            </a:r>
            <a:endParaRPr lang="en-US" sz="13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64240" cy="4480560"/>
        </p:xfrm>
        <a:graphic>
          <a:graphicData uri="http://schemas.openxmlformats.org/drawingml/2006/table">
            <a:tbl>
              <a:tblPr/>
              <a:tblGrid>
                <a:gridCol w="3017520"/>
                <a:gridCol w="8046720"/>
              </a:tblGrid>
              <a:tr h="497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D1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D126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 / title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C9C9C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Movie or TV Show, and its name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director / cast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C9C9C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Director(s) and lead cast members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country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C9C9C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Country or countries of production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date_added / release_year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C9C9C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 the title joined Netflix vs. when it was originally released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C9C9C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Content/age rating (e.g. TV-MA, PG-13)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C9C9C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Length in minutes (movies) or number of seasons (TV shows)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listed_in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C9C9C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Genre(s) / category tags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C9C9C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Short synopsis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wave_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44065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 Quality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548640" y="155448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0D0D0D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85800" y="178308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1D1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34.9%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25146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 missing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8803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1,883 of 5,398 rows — filled with "N/A"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3383280" y="155448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0D0D0D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520440" y="178308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1D1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12.3% / 9.2%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3520440" y="25146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/ Cast missing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3520440" y="28803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663 / 495 rows — left blank, naturally excluded when counting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217920" y="155448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0D0D0D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355080" y="178308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1D1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6355080" y="25146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rows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6355080" y="28803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5,397 cleaned records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9052560" y="155448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0D0D0D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9189720" y="178308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1D1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568</a:t>
            </a:r>
            <a:endParaRPr lang="en-US" sz="2600" dirty="0"/>
          </a:p>
        </p:txBody>
      </p:sp>
      <p:sp>
        <p:nvSpPr>
          <p:cNvPr id="18" name="Text 15"/>
          <p:cNvSpPr txBox="1"/>
          <p:nvPr/>
        </p:nvSpPr>
        <p:spPr>
          <a:xfrm>
            <a:off x="9189720" y="25146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Release-year outliers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9189720" y="28803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 method — mostly legitimate classic titles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3794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malformed row (type "TV Sh", no title) was dropped outright. "Date_added" was converted to a real datetime, and "rating" nulls were filled with the dataset's mode (TV-MA). Release-year outliers were investigated, not deleted — they represent genuine classic/archival titles rather than data errors.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wave_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44065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02920" y="256032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E1D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CONTENT DISTRIBUTION ANALYSIS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02920" y="62179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does Netflix's content come from?</a:t>
            </a:r>
            <a:endParaRPr lang="en-US" sz="26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1234440" y="1234440"/>
          <a:ext cx="969264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02920" y="4892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1D1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502920" y="5184648"/>
            <a:ext cx="11201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E1D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United States leads by a wide margin</a:t>
            </a:r>
            <a:pPr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1,999 title-country credits — more than 3x India (638), the next-largest contributor.</a:t>
            </a:r>
            <a:endParaRPr lang="en-US" sz="130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E1D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UK, Japan and Canada round out the top 5</a:t>
            </a:r>
            <a:pPr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each contributing 230–383 titles — all established, large-scale entertainment industries.</a:t>
            </a:r>
            <a:endParaRPr lang="en-US" sz="130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 reflect multi-country co-productions (a title can count toward several countries), so the totals exceed the number of unique titles.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wave_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44065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Netflix's content rated for?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1234440" y="1234440"/>
          <a:ext cx="969264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02920" y="4892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1D1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</a:t>
            </a:r>
            <a:endParaRPr lang="en-US" sz="1200" dirty="0"/>
          </a:p>
        </p:txBody>
      </p:sp>
      <p:sp>
        <p:nvSpPr>
          <p:cNvPr id="6" name="Text 2"/>
          <p:cNvSpPr txBox="1"/>
          <p:nvPr/>
        </p:nvSpPr>
        <p:spPr>
          <a:xfrm>
            <a:off x="502920" y="5184648"/>
            <a:ext cx="11201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E1D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Movies make up 64.2% of the catalog vs. 35.8% for TV Shows</a:t>
            </a:r>
            <a:pPr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Netflix is still primarily a movie platform by title count.</a:t>
            </a:r>
            <a:endParaRPr lang="en-US" sz="130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E1D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TV-MA and TV-14 alone account for 67.1% of all rated titles</a:t>
            </a:r>
            <a:pPr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(2,246 + 1,373 of 5,397) — a strong skew toward mature and teen audiences.</a:t>
            </a:r>
            <a:endParaRPr lang="en-US" sz="130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Family-oriented ratings (TV-Y, TV-G, PG, G) collectively make up under 13% of the catalog.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wave_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44065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Distribution — Insights &amp; Recommendations</a:t>
            </a:r>
            <a:endParaRPr lang="en-US" sz="26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41732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E1D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Netflix's catalog is movie-first (64.2%) and mature-audience-first (67.1% TV-MA/TV-14 combined) — both point to a platform built around adult, feature-length entertainment.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98424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E1D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sourcing is concentrated in a handful of countries: the US and India together account for over 2,600 title-country credits, well ahead of any other market.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551176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E1D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and children's ratings are a small share of the library, a potential gap relative to competitors that lean harder into family programming.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255264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1D1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3639312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investing in mature-rated originals, the platform's proven strength, while monitoring competitor moves in family content.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4078224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Deepen acquisition in rising markets (South Korea, Spain) rather than concentrating further in the US/India.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4517136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whether the current family-content share matches subscriber household composition, or represents an acquisition gap.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wave_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44065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02920" y="256032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E1D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TIME-BASED TREND ANALYSIS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02920" y="62179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content growth still accelerating?</a:t>
            </a:r>
            <a:endParaRPr lang="en-US" sz="26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1234440" y="1234440"/>
          <a:ext cx="969264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02920" y="4892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1D1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502920" y="5184648"/>
            <a:ext cx="11201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E1D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formats grew steadily from 2017 through 2020</a:t>
            </a:r>
            <a:pPr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roughly doubling Movie releases (352 → 562) and nearly tripling TV Show releases (159 → 434).</a:t>
            </a:r>
            <a:endParaRPr lang="en-US" sz="130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E1D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 is a notable inflection point</a:t>
            </a:r>
            <a:pPr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new TV Show releases (314) outnumbered new Movie releases (277) for the first time, though *the 2021 data only runs through September.</a:t>
            </a:r>
            <a:endParaRPr lang="en-US" sz="130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195 titles in the catalog (3.6%) were released before 2000 — the library is overwhelmingly modern content.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wave_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44065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months see the most new content?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1234440" y="1234440"/>
          <a:ext cx="969264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02920" y="4892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1D1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</a:t>
            </a:r>
            <a:endParaRPr lang="en-US" sz="1200" dirty="0"/>
          </a:p>
        </p:txBody>
      </p:sp>
      <p:sp>
        <p:nvSpPr>
          <p:cNvPr id="6" name="Text 2"/>
          <p:cNvSpPr txBox="1"/>
          <p:nvPr/>
        </p:nvSpPr>
        <p:spPr>
          <a:xfrm>
            <a:off x="502920" y="5184648"/>
            <a:ext cx="11201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E1D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is the busiest month for new content (548 titles)</a:t>
            </a:r>
            <a:pPr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with September (528) and August (490) close behind — a clear late-summer content push.</a:t>
            </a:r>
            <a:endParaRPr lang="en-US" sz="130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E1D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January and February are the quietest (338 and 325)</a:t>
            </a:r>
            <a:pPr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roughly 40% below the July peak.</a:t>
            </a:r>
            <a:endParaRPr lang="en-US" sz="130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pattern is fairly stable rather than a single dominant spike — Netflix spreads additions across the year with a summer lean.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wave_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44065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Time-Based Trends — Insights &amp; Recommendations</a:t>
            </a:r>
            <a:endParaRPr lang="en-US" sz="26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41732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E1D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growth was strong and broad-based from 2017–2020 across both Movies and TV Shows, consistent with Netflix's global expansion era.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98424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E1D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 Shows overtaking Movies in 2021 new releases (partial-year data) may mark a genuine strategic shift toward serialized content, worth confirming with a full-year read.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551176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E1D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content additions peak in July–September and dip in January–February, a seasonal pattern useful for planning subscriber-facing campaigns.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255264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1D1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3639312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whether the 2021 Movie/TV Show crossover holds once full-year data is available — it has real implications for production budget allocation.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4078224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 major marketing pushes and price-sensitive promotions with the natural Jul–Sep content-drop window.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4517136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 a modest, curated pre-2000 "classics" push in the historically quiet Jan–Feb window to smooth the release calendar.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wave_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44065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02920" y="256032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E1D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GENRE &amp; TALENT ANALYSIS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02920" y="62179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genres define the Netflix catalog?</a:t>
            </a:r>
            <a:endParaRPr lang="en-US" sz="26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1234440" y="1234440"/>
          <a:ext cx="969264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02920" y="4892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1D1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502920" y="5184648"/>
            <a:ext cx="11201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E1D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Movies is the single largest genre tag (1,755 titles)</a:t>
            </a:r>
            <a:pPr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ahead of Dramas (1,426) and Comedies (1,025).</a:t>
            </a:r>
            <a:endParaRPr lang="en-US" sz="130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E1D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Titles carry multiple genre tags</a:t>
            </a:r>
            <a:pPr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so a title like an international drama-comedy is counted in several of these bars — the tags describe flavor, not exclusive category.</a:t>
            </a:r>
            <a:endParaRPr lang="en-US" sz="130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TV-side genres (International TV Shows, TV Dramas) already rank in the overall top 5, reflecting the format's growing weight.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wave_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44065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catalog built around a few big names?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1234440" y="1234440"/>
          <a:ext cx="969264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02920" y="4892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1D1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</a:t>
            </a:r>
            <a:endParaRPr lang="en-US" sz="1200" dirty="0"/>
          </a:p>
        </p:txBody>
      </p:sp>
      <p:sp>
        <p:nvSpPr>
          <p:cNvPr id="6" name="Text 2"/>
          <p:cNvSpPr txBox="1"/>
          <p:nvPr/>
        </p:nvSpPr>
        <p:spPr>
          <a:xfrm>
            <a:off x="502920" y="5184648"/>
            <a:ext cx="11201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E1D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the most prolific director, Rajiv Chilaka, has just 19 titles</a:t>
            </a:r>
            <a:pPr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under 0.4% of the catalog. No single creator dominates.</a:t>
            </a:r>
            <a:endParaRPr lang="en-US" sz="130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E1D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 is missing for 1,883 titles (34.9%)</a:t>
            </a:r>
            <a:pPr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the largest data gap in the dataset — excluded here so the ranking reflects only real, named directors.</a:t>
            </a:r>
            <a:endParaRPr lang="en-US" sz="130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long-tail pattern holds for actors: the most frequent, Takahiro Sakurai, appears in just 26 titles.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wave_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44065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 &amp; Talent — Insights &amp; Recommendations</a:t>
            </a:r>
            <a:endParaRPr lang="en-US" sz="26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41732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E1D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is the dominant force specifically within "International Movies" (528 of that genre's titles) — far ahead of France (109) or Spain (99), reflecting Bollywood's scale.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98424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E1D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 leads TV Show production outright (697 titles) — more than 4x Japan (158), the next-largest TV contributor.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551176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E1D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directors and actors show an extremely long-tail distribution — the catalog's breadth, not a handful of stars, is what defines it.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255264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1D1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3639312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India as a strategic hub for International Movie content specifically, distinct from its overall country ranking.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4078224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on genre and country curation (not talent-led marketing) as the primary discovery lever, given how distributed director/actor credits are.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4517136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US-based TV co-productions to extend the country's already-dominant TV genre position.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wave_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44065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02920" y="256032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E1D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BUSINESS &amp; AUDIENCE INSIGHTS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02920" y="62179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the current Movie / TV Show split?</a:t>
            </a:r>
            <a:endParaRPr lang="en-US" sz="26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291840" y="1188720"/>
          <a:ext cx="420624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02920" y="4892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1D1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502920" y="5184648"/>
            <a:ext cx="11201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E1D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Movies still hold a clear majority at 64.2%</a:t>
            </a:r>
            <a:pPr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the 5,397-title catalog, with TV Shows at 35.8%.</a:t>
            </a:r>
            <a:endParaRPr lang="en-US" sz="130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E1D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gap is narrowing</a:t>
            </a:r>
            <a:pPr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as seen in the growth trend, TV Show releases already outpaced Movies in 2021's partial-year figures.</a:t>
            </a:r>
            <a:endParaRPr lang="en-US" sz="130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average Netflix movie runs 100.4 minutes, tightly clustered around mainstream feature length.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wave_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44065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Netflix's content getting more global?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377440" y="1234440"/>
          <a:ext cx="59436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02920" y="4892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1D1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</a:t>
            </a:r>
            <a:endParaRPr lang="en-US" sz="1200" dirty="0"/>
          </a:p>
        </p:txBody>
      </p:sp>
      <p:sp>
        <p:nvSpPr>
          <p:cNvPr id="6" name="Text 2"/>
          <p:cNvSpPr txBox="1"/>
          <p:nvPr/>
        </p:nvSpPr>
        <p:spPr>
          <a:xfrm>
            <a:off x="502920" y="5184648"/>
            <a:ext cx="11201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E1D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 of countries contributing content grew from 43 in 2017 to 73 in 2021</a:t>
            </a:r>
            <a:pPr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 70% increase in geographic breadth in just five years.</a:t>
            </a:r>
            <a:endParaRPr lang="en-US" sz="130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was steady rather than a one-time jump, suggesting an ongoing, deliberate global-sourcing strategy rather than a single acquisition wave.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wave_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44065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&amp; Audience — Insights &amp; Recommendations</a:t>
            </a:r>
            <a:endParaRPr lang="en-US" sz="26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41732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E1D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Movie/TV Show mix (64/36) and mature-rating lean (67% TV-MA/TV-14) together describe a platform still built around adult, feature-length viewing — but both are shifting toward more TV and broader ratings over time.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98424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E1D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TV Shows (1,000 titles) and TV Dramas (576) lead the TV genre mix, with Crime TV Shows (349) close behind — serialized, globally-flavored drama is the platform's TV backbone.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551176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E1D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diversity is compounding, not plateauing — 73 countries contributed content by 2021, up from 43 just four years earlier.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255264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1D1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3639312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~100-minute average movie runtime as a benchmark when evaluating new licensing or production deals.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4078224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investing in serialized international drama/crime formats, the clear growth engine on the TV side.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4517136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 the international-sourcing trajectory — it's a differentiator that is still accelerating, not slowing down.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wave_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44065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Recommendations</a:t>
            </a:r>
            <a:endParaRPr lang="en-US" sz="26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508760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E1D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</a:t>
            </a:r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Netflix's catalog is movie-first (64.2%) but shifting: TV Show releases already outpaced Movies in 2021's partial-year figures, a trend worth tracking closely.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560320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E1D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</a:t>
            </a:r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is concentrated by country (US, India) and heavily mature-rated (67% TV-MA/TV-14), while genre leadership sits with International Movies, Dramas and Comedies — clear signals for where the platform's identity currently sits.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611880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E1D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</a:t>
            </a:r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has been aggressive and increasingly global: content additions accelerated after 2015, and the number of contributing countries grew 70% between 2017–2021.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663440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E1D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</a:t>
            </a:r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 — directors and actors — is a long-tail asset, not a concentration point; curation by country, genre and rating is the more powerful lever for content strategy than star power.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wave_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440656"/>
          </a:xfrm>
          <a:prstGeom prst="rect">
            <a:avLst/>
          </a:prstGeom>
        </p:spPr>
      </p:pic>
      <p:pic>
        <p:nvPicPr>
          <p:cNvPr id="3" name="Image 1" descr="/home/claude/work/assets/wave_fu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375219"/>
            <a:ext cx="12191695" cy="2482781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0" y="3063240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3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2026-09-02T08:43:01Z</dcterms:created>
  <dcterms:modified xsi:type="dcterms:W3CDTF">2026-09-02T08:43:01Z</dcterms:modified>
</cp:coreProperties>
</file>